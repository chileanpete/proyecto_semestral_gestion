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5"/>
    <p:sldMasterId id="214748367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y="5143500" cx="9144000"/>
  <p:notesSz cx="6858000" cy="9144000"/>
  <p:embeddedFontLst>
    <p:embeddedFont>
      <p:font typeface="Montserrat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90D3251-D23F-4B5E-8F61-E21AA34BD1E8}">
  <a:tblStyle styleId="{590D3251-D23F-4B5E-8F61-E21AA34BD1E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font" Target="fonts/Montserrat-bold.fntdata"/><Relationship Id="rId16" Type="http://schemas.openxmlformats.org/officeDocument/2006/relationships/font" Target="fonts/Montserrat-regular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Montserrat-boldItalic.fntdata"/><Relationship Id="rId6" Type="http://schemas.openxmlformats.org/officeDocument/2006/relationships/slideMaster" Target="slideMasters/slideMaster2.xml"/><Relationship Id="rId18" Type="http://schemas.openxmlformats.org/officeDocument/2006/relationships/font" Target="fonts/Montserrat-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91074d5e97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g391074d5e97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" name="Google Shape;134;g391074d5e97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91074d5e97_0_3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91074d5e97_0_3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91074d5e97_0_4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91074d5e97_0_4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acef792252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acef792252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acef792252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acef792252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91074d5e97_0_4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91074d5e97_0_4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91074d5e97_0_4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91074d5e97_0_4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acef792252_0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g3acef792252_0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5" name="Google Shape;185;g3acef792252_0_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623888" y="3442097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9"/>
          <p:cNvSpPr txBox="1"/>
          <p:nvPr>
            <p:ph idx="1" type="body"/>
          </p:nvPr>
        </p:nvSpPr>
        <p:spPr>
          <a:xfrm>
            <a:off x="629841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2" type="body"/>
          </p:nvPr>
        </p:nvSpPr>
        <p:spPr>
          <a:xfrm>
            <a:off x="629841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1" name="Google Shape;91;p19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2" name="Google Shape;92;p19"/>
          <p:cNvSpPr txBox="1"/>
          <p:nvPr>
            <p:ph idx="4" type="body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p1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2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0" name="Google Shape;100;p2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p2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2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7" name="Google Shape;107;p22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8" name="Google Shape;108;p22"/>
          <p:cNvSpPr txBox="1"/>
          <p:nvPr>
            <p:ph idx="2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9" name="Google Shape;109;p2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p2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4" name="Google Shape;114;p23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7" name="Google Shape;127;p25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8" name="Google Shape;128;p2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9" name="Google Shape;129;p2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0" name="Google Shape;130;p2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23.xml"/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54702" y="1879271"/>
            <a:ext cx="7028082" cy="2074164"/>
          </a:xfrm>
          <a:prstGeom prst="rect">
            <a:avLst/>
          </a:prstGeom>
          <a:noFill/>
          <a:ln>
            <a:noFill/>
          </a:ln>
          <a:effectLst>
            <a:outerShdw blurRad="128605" rotWithShape="0" algn="tl">
              <a:srgbClr val="000000">
                <a:alpha val="40000"/>
              </a:srgbClr>
            </a:outerShdw>
          </a:effectLst>
        </p:spPr>
      </p:pic>
      <p:sp>
        <p:nvSpPr>
          <p:cNvPr id="138" name="Google Shape;138;p26"/>
          <p:cNvSpPr txBox="1"/>
          <p:nvPr/>
        </p:nvSpPr>
        <p:spPr>
          <a:xfrm>
            <a:off x="1374537" y="1879277"/>
            <a:ext cx="6788400" cy="16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1" i="1" lang="es" sz="3000">
                <a:solidFill>
                  <a:srgbClr val="D00120"/>
                </a:solidFill>
                <a:latin typeface="Montserrat"/>
                <a:ea typeface="Montserrat"/>
                <a:cs typeface="Montserrat"/>
                <a:sym typeface="Montserrat"/>
              </a:rPr>
              <a:t>Proyecto Semestral 20205-II:</a:t>
            </a:r>
            <a:endParaRPr b="1" sz="3000">
              <a:solidFill>
                <a:srgbClr val="D0012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1" lang="es" sz="3000">
                <a:solidFill>
                  <a:srgbClr val="D00120"/>
                </a:solidFill>
                <a:latin typeface="Montserrat"/>
                <a:ea typeface="Montserrat"/>
                <a:cs typeface="Montserrat"/>
                <a:sym typeface="Montserrat"/>
              </a:rPr>
              <a:t>TENDENCIAS EPIDEMIOLÓGICAS GLOBALES DE COVID-19</a:t>
            </a:r>
            <a:endParaRPr b="1" i="1" sz="3000">
              <a:solidFill>
                <a:srgbClr val="D0012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9" name="Google Shape;139;p26"/>
          <p:cNvSpPr txBox="1"/>
          <p:nvPr/>
        </p:nvSpPr>
        <p:spPr>
          <a:xfrm>
            <a:off x="1374532" y="3428968"/>
            <a:ext cx="6788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s" sz="1030">
                <a:solidFill>
                  <a:schemeClr val="dk1"/>
                </a:solidFill>
              </a:rPr>
              <a:t>Integrantes: Tomás Fell</a:t>
            </a:r>
            <a:endParaRPr sz="103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s" sz="1030">
                <a:solidFill>
                  <a:schemeClr val="dk1"/>
                </a:solidFill>
              </a:rPr>
              <a:t> 	       Sofía Bastías</a:t>
            </a:r>
            <a:endParaRPr sz="103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s" sz="1030">
                <a:solidFill>
                  <a:schemeClr val="dk1"/>
                </a:solidFill>
              </a:rPr>
              <a:t>Docente: Lorenzo Paredes</a:t>
            </a:r>
            <a:endParaRPr b="1" sz="1700">
              <a:solidFill>
                <a:srgbClr val="3F3F3F"/>
              </a:solidFill>
            </a:endParaRPr>
          </a:p>
        </p:txBody>
      </p:sp>
      <p:pic>
        <p:nvPicPr>
          <p:cNvPr id="140" name="Google Shape;140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36647" y="-48572"/>
            <a:ext cx="1607344" cy="16073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7"/>
          <p:cNvSpPr txBox="1"/>
          <p:nvPr>
            <p:ph type="title"/>
          </p:nvPr>
        </p:nvSpPr>
        <p:spPr>
          <a:xfrm>
            <a:off x="628650" y="-220831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Arial"/>
                <a:ea typeface="Arial"/>
                <a:cs typeface="Arial"/>
                <a:sym typeface="Arial"/>
              </a:rPr>
              <a:t>Objetivos: 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7"/>
          <p:cNvSpPr txBox="1"/>
          <p:nvPr>
            <p:ph idx="1" type="body"/>
          </p:nvPr>
        </p:nvSpPr>
        <p:spPr>
          <a:xfrm>
            <a:off x="410325" y="1060250"/>
            <a:ext cx="3910500" cy="3624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latin typeface="Arial"/>
                <a:ea typeface="Arial"/>
                <a:cs typeface="Arial"/>
                <a:sym typeface="Arial"/>
              </a:rPr>
              <a:t>El estudio de reportes diarios de COVID-19 de la universidad Johns Hopkins rescata todos los datos obtenidos de los años 2020 a 2022 sobre casos confirmados, recuperados, activos y fallecidos. 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latin typeface="Arial"/>
                <a:ea typeface="Arial"/>
                <a:cs typeface="Arial"/>
                <a:sym typeface="Arial"/>
              </a:rPr>
              <a:t>Esto con el fin de poder analizar y concluir posibles causas a distintos comportamientos de los datos. 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7" name="Google Shape;14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9225" y="2482708"/>
            <a:ext cx="3247976" cy="18296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86850" y="687175"/>
            <a:ext cx="2812426" cy="158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8"/>
          <p:cNvSpPr txBox="1"/>
          <p:nvPr>
            <p:ph type="title"/>
          </p:nvPr>
        </p:nvSpPr>
        <p:spPr>
          <a:xfrm>
            <a:off x="628650" y="7649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Arial"/>
                <a:ea typeface="Arial"/>
                <a:cs typeface="Arial"/>
                <a:sym typeface="Arial"/>
              </a:rPr>
              <a:t>Datos: 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8"/>
          <p:cNvSpPr txBox="1"/>
          <p:nvPr>
            <p:ph idx="1" type="body"/>
          </p:nvPr>
        </p:nvSpPr>
        <p:spPr>
          <a:xfrm>
            <a:off x="179400" y="1351600"/>
            <a:ext cx="4392600" cy="2551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latin typeface="Arial"/>
                <a:ea typeface="Arial"/>
                <a:cs typeface="Arial"/>
                <a:sym typeface="Arial"/>
              </a:rPr>
              <a:t>Para el procesamiento de los datos se: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s" sz="1600">
                <a:latin typeface="Arial"/>
                <a:ea typeface="Arial"/>
                <a:cs typeface="Arial"/>
                <a:sym typeface="Arial"/>
              </a:rPr>
              <a:t>Estandarizaron nombres de columnas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s" sz="1600">
                <a:latin typeface="Arial"/>
                <a:ea typeface="Arial"/>
                <a:cs typeface="Arial"/>
                <a:sym typeface="Arial"/>
              </a:rPr>
              <a:t>Se unificaron nombres de </a:t>
            </a:r>
            <a:r>
              <a:rPr lang="es" sz="1600">
                <a:latin typeface="Arial"/>
                <a:ea typeface="Arial"/>
                <a:cs typeface="Arial"/>
                <a:sym typeface="Arial"/>
              </a:rPr>
              <a:t>países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s" sz="1600">
                <a:latin typeface="Arial"/>
                <a:ea typeface="Arial"/>
                <a:cs typeface="Arial"/>
                <a:sym typeface="Arial"/>
              </a:rPr>
              <a:t>Se eliminaron columnas ("FIPS","Admin2", "Lat","Long_")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s" sz="1600">
                <a:latin typeface="Arial"/>
                <a:ea typeface="Arial"/>
                <a:cs typeface="Arial"/>
                <a:sym typeface="Arial"/>
              </a:rPr>
              <a:t>Se </a:t>
            </a:r>
            <a:r>
              <a:rPr lang="es" sz="1600">
                <a:latin typeface="Arial"/>
                <a:ea typeface="Arial"/>
                <a:cs typeface="Arial"/>
                <a:sym typeface="Arial"/>
              </a:rPr>
              <a:t>reemplazan</a:t>
            </a:r>
            <a:r>
              <a:rPr lang="es" sz="1600">
                <a:latin typeface="Arial"/>
                <a:ea typeface="Arial"/>
                <a:cs typeface="Arial"/>
                <a:sym typeface="Arial"/>
              </a:rPr>
              <a:t> valores NaN a 0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latin typeface="Arial"/>
                <a:ea typeface="Arial"/>
                <a:cs typeface="Arial"/>
                <a:sym typeface="Arial"/>
              </a:rPr>
              <a:t>("Recovered" y "Active")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5" name="Google Shape;15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8875" y="1210450"/>
            <a:ext cx="3661751" cy="2252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9"/>
          <p:cNvSpPr txBox="1"/>
          <p:nvPr>
            <p:ph type="title"/>
          </p:nvPr>
        </p:nvSpPr>
        <p:spPr>
          <a:xfrm>
            <a:off x="628650" y="-57156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Arial"/>
                <a:ea typeface="Arial"/>
                <a:cs typeface="Arial"/>
                <a:sym typeface="Arial"/>
              </a:rPr>
              <a:t>Resultados: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1" name="Google Shape;16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150" y="937050"/>
            <a:ext cx="4912400" cy="292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77550" y="565475"/>
            <a:ext cx="4007149" cy="338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600" y="454350"/>
            <a:ext cx="8174800" cy="347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1"/>
          <p:cNvSpPr txBox="1"/>
          <p:nvPr>
            <p:ph type="title"/>
          </p:nvPr>
        </p:nvSpPr>
        <p:spPr>
          <a:xfrm>
            <a:off x="469775" y="39799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Arial"/>
                <a:ea typeface="Arial"/>
                <a:cs typeface="Arial"/>
                <a:sym typeface="Arial"/>
              </a:rPr>
              <a:t>Optimización:</a:t>
            </a:r>
            <a:r>
              <a:rPr lang="es">
                <a:latin typeface="Arial"/>
                <a:ea typeface="Arial"/>
                <a:cs typeface="Arial"/>
                <a:sym typeface="Arial"/>
              </a:rPr>
              <a:t> 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73" name="Google Shape;173;p31"/>
          <p:cNvGraphicFramePr/>
          <p:nvPr/>
        </p:nvGraphicFramePr>
        <p:xfrm>
          <a:off x="207725" y="2026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{590D3251-D23F-4B5E-8F61-E21AA34BD1E8}</a:tableStyleId>
              </a:tblPr>
              <a:tblGrid>
                <a:gridCol w="1415400"/>
                <a:gridCol w="1360200"/>
                <a:gridCol w="4491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500"/>
                        <a:t>Técnica</a:t>
                      </a:r>
                      <a:endParaRPr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500"/>
                        <a:t>Mejora</a:t>
                      </a:r>
                      <a:endParaRPr sz="15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500"/>
                        <a:t>Lectura</a:t>
                      </a:r>
                      <a:endParaRPr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500"/>
                        <a:t>Chunksize</a:t>
                      </a:r>
                      <a:endParaRPr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833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>
                          <a:solidFill>
                            <a:schemeClr val="dk1"/>
                          </a:solidFill>
                        </a:rPr>
                        <a:t> Reducción de TIEMPO del 40.1% (155.1s -&gt; 92.9s)</a:t>
                      </a:r>
                      <a:endParaRPr sz="15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500"/>
                        <a:t>Memoria</a:t>
                      </a:r>
                      <a:endParaRPr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500"/>
                        <a:t>astype</a:t>
                      </a:r>
                      <a:endParaRPr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500"/>
                        <a:t>Reducción de RAM del </a:t>
                      </a:r>
                      <a:r>
                        <a:rPr lang="es" sz="1500">
                          <a:solidFill>
                            <a:schemeClr val="dk1"/>
                          </a:solidFill>
                        </a:rPr>
                        <a:t>35.5%</a:t>
                      </a:r>
                      <a:r>
                        <a:rPr lang="es" sz="1500"/>
                        <a:t> (</a:t>
                      </a:r>
                      <a:r>
                        <a:rPr lang="es" sz="1500">
                          <a:solidFill>
                            <a:schemeClr val="dk1"/>
                          </a:solidFill>
                        </a:rPr>
                        <a:t>1.03GB -&gt; 666.5MB</a:t>
                      </a:r>
                      <a:r>
                        <a:rPr lang="es" sz="1500"/>
                        <a:t>)</a:t>
                      </a:r>
                      <a:endParaRPr sz="15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500"/>
                        <a:t>Cálculo</a:t>
                      </a:r>
                      <a:endParaRPr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500"/>
                        <a:t>Vectorización</a:t>
                      </a:r>
                      <a:endParaRPr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500"/>
                        <a:t>Reducción de TIEMPO del </a:t>
                      </a:r>
                      <a:r>
                        <a:rPr lang="es" sz="1500">
                          <a:solidFill>
                            <a:schemeClr val="dk1"/>
                          </a:solidFill>
                        </a:rPr>
                        <a:t>99.8% </a:t>
                      </a:r>
                      <a:r>
                        <a:rPr lang="es" sz="1500"/>
                        <a:t>(</a:t>
                      </a:r>
                      <a:r>
                        <a:rPr lang="es" sz="1500">
                          <a:solidFill>
                            <a:schemeClr val="dk1"/>
                          </a:solidFill>
                        </a:rPr>
                        <a:t>30.7s -&gt; 0.05s</a:t>
                      </a:r>
                      <a:r>
                        <a:rPr lang="es" sz="1500"/>
                        <a:t>)</a:t>
                      </a:r>
                      <a:endParaRPr sz="15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74" name="Google Shape;17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6375" y="197000"/>
            <a:ext cx="2938374" cy="165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2"/>
          <p:cNvSpPr txBox="1"/>
          <p:nvPr>
            <p:ph type="title"/>
          </p:nvPr>
        </p:nvSpPr>
        <p:spPr>
          <a:xfrm>
            <a:off x="628650" y="945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Arial"/>
                <a:ea typeface="Arial"/>
                <a:cs typeface="Arial"/>
                <a:sym typeface="Arial"/>
              </a:rPr>
              <a:t>Conclusión: 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32"/>
          <p:cNvSpPr txBox="1"/>
          <p:nvPr>
            <p:ph idx="1" type="body"/>
          </p:nvPr>
        </p:nvSpPr>
        <p:spPr>
          <a:xfrm>
            <a:off x="270050" y="1258875"/>
            <a:ext cx="4460700" cy="3775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30200" lvl="0" marL="457200" rtl="0" algn="l">
              <a:spcBef>
                <a:spcPts val="800"/>
              </a:spcBef>
              <a:spcAft>
                <a:spcPts val="0"/>
              </a:spcAft>
              <a:buSzPts val="1600"/>
              <a:buChar char="•"/>
            </a:pPr>
            <a:r>
              <a:rPr lang="es" sz="1600">
                <a:latin typeface="Arial"/>
                <a:ea typeface="Arial"/>
                <a:cs typeface="Arial"/>
                <a:sym typeface="Arial"/>
              </a:rPr>
              <a:t>La correlación entre los datos de casos confirmados con casos activos es alta, al igual que los casos confirmados con los fallecidos. 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s" sz="1600">
                <a:latin typeface="Arial"/>
                <a:ea typeface="Arial"/>
                <a:cs typeface="Arial"/>
                <a:sym typeface="Arial"/>
              </a:rPr>
              <a:t>Desde el 2022 en adelante las tasas de letalidad bajaron </a:t>
            </a:r>
            <a:r>
              <a:rPr lang="es" sz="1600">
                <a:latin typeface="Arial"/>
                <a:ea typeface="Arial"/>
                <a:cs typeface="Arial"/>
                <a:sym typeface="Arial"/>
              </a:rPr>
              <a:t>drásticamente, al igual que los casos activos de covid-19</a:t>
            </a:r>
            <a:r>
              <a:rPr lang="es" sz="1600">
                <a:latin typeface="Arial"/>
                <a:ea typeface="Arial"/>
                <a:cs typeface="Arial"/>
                <a:sym typeface="Arial"/>
              </a:rPr>
              <a:t>. 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s" sz="1600">
                <a:latin typeface="Arial"/>
                <a:ea typeface="Arial"/>
                <a:cs typeface="Arial"/>
                <a:sym typeface="Arial"/>
              </a:rPr>
              <a:t>Si la limpieza de datos no es buena, el </a:t>
            </a:r>
            <a:r>
              <a:rPr lang="es" sz="1600">
                <a:latin typeface="Arial"/>
                <a:ea typeface="Arial"/>
                <a:cs typeface="Arial"/>
                <a:sym typeface="Arial"/>
              </a:rPr>
              <a:t>análisis</a:t>
            </a:r>
            <a:r>
              <a:rPr lang="es" sz="1600">
                <a:latin typeface="Arial"/>
                <a:ea typeface="Arial"/>
                <a:cs typeface="Arial"/>
                <a:sym typeface="Arial"/>
              </a:rPr>
              <a:t> posterior </a:t>
            </a:r>
            <a:r>
              <a:rPr lang="es" sz="1600">
                <a:latin typeface="Arial"/>
                <a:ea typeface="Arial"/>
                <a:cs typeface="Arial"/>
                <a:sym typeface="Arial"/>
              </a:rPr>
              <a:t>podría</a:t>
            </a:r>
            <a:r>
              <a:rPr lang="es" sz="1600">
                <a:latin typeface="Arial"/>
                <a:ea typeface="Arial"/>
                <a:cs typeface="Arial"/>
                <a:sym typeface="Arial"/>
              </a:rPr>
              <a:t> no ser correcto ni representativo. 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1" name="Google Shape;18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0750" y="1158394"/>
            <a:ext cx="4108450" cy="2614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54702" y="1879271"/>
            <a:ext cx="7028082" cy="2074164"/>
          </a:xfrm>
          <a:prstGeom prst="rect">
            <a:avLst/>
          </a:prstGeom>
          <a:noFill/>
          <a:ln>
            <a:noFill/>
          </a:ln>
          <a:effectLst>
            <a:outerShdw blurRad="128605" rotWithShape="0" algn="tl">
              <a:srgbClr val="000000">
                <a:alpha val="40000"/>
              </a:srgbClr>
            </a:outerShdw>
          </a:effectLst>
        </p:spPr>
      </p:pic>
      <p:sp>
        <p:nvSpPr>
          <p:cNvPr id="189" name="Google Shape;189;p33"/>
          <p:cNvSpPr txBox="1"/>
          <p:nvPr/>
        </p:nvSpPr>
        <p:spPr>
          <a:xfrm>
            <a:off x="1374537" y="1879277"/>
            <a:ext cx="6788400" cy="16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1" i="1" lang="es" sz="3000">
                <a:solidFill>
                  <a:srgbClr val="D00120"/>
                </a:solidFill>
                <a:latin typeface="Montserrat"/>
                <a:ea typeface="Montserrat"/>
                <a:cs typeface="Montserrat"/>
                <a:sym typeface="Montserrat"/>
              </a:rPr>
              <a:t>Proyecto Semestral 20205-II:</a:t>
            </a:r>
            <a:endParaRPr b="1" sz="3000">
              <a:solidFill>
                <a:srgbClr val="D0012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1" lang="es" sz="3000">
                <a:solidFill>
                  <a:srgbClr val="D00120"/>
                </a:solidFill>
                <a:latin typeface="Montserrat"/>
                <a:ea typeface="Montserrat"/>
                <a:cs typeface="Montserrat"/>
                <a:sym typeface="Montserrat"/>
              </a:rPr>
              <a:t>TENDENCIAS EPIDEMIOLÓGICAS GLOBALES DE COVID-19</a:t>
            </a:r>
            <a:endParaRPr b="1" i="1" sz="3000">
              <a:solidFill>
                <a:srgbClr val="D0012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0" name="Google Shape;190;p33"/>
          <p:cNvSpPr txBox="1"/>
          <p:nvPr/>
        </p:nvSpPr>
        <p:spPr>
          <a:xfrm>
            <a:off x="1374532" y="3428968"/>
            <a:ext cx="6788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s" sz="1030">
                <a:solidFill>
                  <a:schemeClr val="dk1"/>
                </a:solidFill>
              </a:rPr>
              <a:t>Integrantes: Tomás Fell</a:t>
            </a:r>
            <a:endParaRPr sz="103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s" sz="1030">
                <a:solidFill>
                  <a:schemeClr val="dk1"/>
                </a:solidFill>
              </a:rPr>
              <a:t> 	       Sofía Bastías</a:t>
            </a:r>
            <a:endParaRPr sz="103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s" sz="1030">
                <a:solidFill>
                  <a:schemeClr val="dk1"/>
                </a:solidFill>
              </a:rPr>
              <a:t>Docente: Lorenzo Paredes</a:t>
            </a:r>
            <a:endParaRPr b="1" sz="1700">
              <a:solidFill>
                <a:srgbClr val="3F3F3F"/>
              </a:solidFill>
            </a:endParaRPr>
          </a:p>
        </p:txBody>
      </p:sp>
      <p:pic>
        <p:nvPicPr>
          <p:cNvPr id="191" name="Google Shape;191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36647" y="-48572"/>
            <a:ext cx="1607344" cy="16073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